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7" autoAdjust="0"/>
    <p:restoredTop sz="94660"/>
  </p:normalViewPr>
  <p:slideViewPr>
    <p:cSldViewPr snapToGrid="0">
      <p:cViewPr>
        <p:scale>
          <a:sx n="50" d="100"/>
          <a:sy n="50" d="100"/>
        </p:scale>
        <p:origin x="4184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80FE-0FF5-41BA-94B5-A2961DC2B34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35083-2463-4E8A-9419-44A07B3D6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994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80FE-0FF5-41BA-94B5-A2961DC2B34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35083-2463-4E8A-9419-44A07B3D6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885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80FE-0FF5-41BA-94B5-A2961DC2B34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35083-2463-4E8A-9419-44A07B3D6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666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80FE-0FF5-41BA-94B5-A2961DC2B34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35083-2463-4E8A-9419-44A07B3D6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140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80FE-0FF5-41BA-94B5-A2961DC2B34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35083-2463-4E8A-9419-44A07B3D6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605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80FE-0FF5-41BA-94B5-A2961DC2B34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35083-2463-4E8A-9419-44A07B3D6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343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80FE-0FF5-41BA-94B5-A2961DC2B34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35083-2463-4E8A-9419-44A07B3D6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096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80FE-0FF5-41BA-94B5-A2961DC2B34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35083-2463-4E8A-9419-44A07B3D6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940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80FE-0FF5-41BA-94B5-A2961DC2B34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35083-2463-4E8A-9419-44A07B3D6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0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80FE-0FF5-41BA-94B5-A2961DC2B34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35083-2463-4E8A-9419-44A07B3D6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850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80FE-0FF5-41BA-94B5-A2961DC2B34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35083-2463-4E8A-9419-44A07B3D6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391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280FE-0FF5-41BA-94B5-A2961DC2B34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F35083-2463-4E8A-9419-44A07B3D6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972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496F714-8CED-13C4-5C64-69DD4E92F764}"/>
              </a:ext>
            </a:extLst>
          </p:cNvPr>
          <p:cNvGrpSpPr/>
          <p:nvPr/>
        </p:nvGrpSpPr>
        <p:grpSpPr>
          <a:xfrm>
            <a:off x="0" y="7188177"/>
            <a:ext cx="7772400" cy="2808757"/>
            <a:chOff x="0" y="6968447"/>
            <a:chExt cx="7772400" cy="280875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EE71DE-1CFF-9958-377D-3160EDA20C0D}"/>
                </a:ext>
              </a:extLst>
            </p:cNvPr>
            <p:cNvSpPr txBox="1"/>
            <p:nvPr/>
          </p:nvSpPr>
          <p:spPr>
            <a:xfrm>
              <a:off x="0" y="8012777"/>
              <a:ext cx="308560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public class H2ClassC {</a:t>
              </a:r>
            </a:p>
            <a:p>
              <a:r>
                <a:rPr lang="en-US" sz="1200" dirty="0"/>
                <a:t>  H2ClassC() {}          // added</a:t>
              </a:r>
            </a:p>
            <a:p>
              <a:r>
                <a:rPr lang="en-US" sz="1200" dirty="0"/>
                <a:t>  H2ClassC(int a) {}</a:t>
              </a:r>
            </a:p>
            <a:p>
              <a:r>
                <a:rPr lang="en-US" sz="1200" dirty="0"/>
                <a:t>}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1F6FF1B-DAA0-94BD-E9B7-B53CC347B210}"/>
                </a:ext>
              </a:extLst>
            </p:cNvPr>
            <p:cNvSpPr txBox="1"/>
            <p:nvPr/>
          </p:nvSpPr>
          <p:spPr>
            <a:xfrm>
              <a:off x="0" y="6968447"/>
              <a:ext cx="7772400" cy="92333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sz="1200" b="1" u="sng" dirty="0"/>
                <a:t>Question 3 Answers</a:t>
              </a:r>
              <a:r>
                <a:rPr lang="en-US" sz="1200" dirty="0"/>
                <a:t>:</a:t>
              </a:r>
            </a:p>
            <a:p>
              <a:r>
                <a:rPr lang="en-US" sz="1200" i="1" dirty="0"/>
                <a:t>H2ClassD</a:t>
              </a:r>
              <a:r>
                <a:rPr lang="en-US" sz="1200" dirty="0"/>
                <a:t> has an implicit no-</a:t>
              </a:r>
              <a:r>
                <a:rPr lang="en-US" sz="1200" dirty="0" err="1"/>
                <a:t>arg</a:t>
              </a:r>
              <a:r>
                <a:rPr lang="en-US" sz="1200" dirty="0"/>
                <a:t> constructor, but </a:t>
              </a:r>
              <a:r>
                <a:rPr lang="en-US" sz="1200" i="1" dirty="0"/>
                <a:t>H2ClassC</a:t>
              </a:r>
              <a:r>
                <a:rPr lang="en-US" sz="1200" dirty="0"/>
                <a:t> only has </a:t>
              </a:r>
              <a:r>
                <a:rPr lang="en-US" sz="1200" i="1" dirty="0"/>
                <a:t>H2ClassC(int a)</a:t>
              </a:r>
              <a:r>
                <a:rPr lang="en-US" sz="1200" dirty="0"/>
                <a:t>. Java requires the subclass constructor to call a valid </a:t>
              </a:r>
              <a:r>
                <a:rPr lang="en-US" sz="1200" i="1" dirty="0"/>
                <a:t>super(...)</a:t>
              </a:r>
              <a:r>
                <a:rPr lang="en-US" sz="1200" dirty="0"/>
                <a:t>.</a:t>
              </a:r>
            </a:p>
            <a:p>
              <a:endParaRPr lang="en-US" sz="1200" dirty="0"/>
            </a:p>
            <a:p>
              <a:r>
                <a:rPr lang="en-US" sz="1200" dirty="0"/>
                <a:t>Solution 1: Add a no-</a:t>
              </a:r>
              <a:r>
                <a:rPr lang="en-US" sz="1200" dirty="0" err="1"/>
                <a:t>arg</a:t>
              </a:r>
              <a:r>
                <a:rPr lang="en-US" sz="1200" dirty="0"/>
                <a:t> constructor to the parent            Solution 2: Define a constructor in the child that calls super(int)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95C8384-72C0-C355-2A27-9244BBE623C8}"/>
                </a:ext>
              </a:extLst>
            </p:cNvPr>
            <p:cNvSpPr txBox="1"/>
            <p:nvPr/>
          </p:nvSpPr>
          <p:spPr>
            <a:xfrm>
              <a:off x="4013337" y="8012777"/>
              <a:ext cx="3085600" cy="1764427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r>
                <a:rPr lang="en-US" sz="1200" dirty="0"/>
                <a:t>public class H2ClassC {</a:t>
              </a:r>
            </a:p>
            <a:p>
              <a:r>
                <a:rPr lang="en-US" sz="1200" dirty="0"/>
                <a:t>  H2ClassC(int a) {}</a:t>
              </a:r>
            </a:p>
            <a:p>
              <a:r>
                <a:rPr lang="en-US" sz="1200" dirty="0"/>
                <a:t>}</a:t>
              </a:r>
            </a:p>
            <a:p>
              <a:r>
                <a:rPr lang="en-US" sz="1200" dirty="0"/>
                <a:t>class H2ClassD extends H2ClassC {</a:t>
              </a:r>
            </a:p>
            <a:p>
              <a:r>
                <a:rPr lang="en-US" sz="1200" dirty="0"/>
                <a:t>  H2ClassD() { super(0); }   // or any int you want</a:t>
              </a:r>
            </a:p>
            <a:p>
              <a:r>
                <a:rPr lang="en-US" sz="1200" dirty="0"/>
                <a:t>}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51716B6-2D5D-D0EA-63D5-2D6042984C6C}"/>
              </a:ext>
            </a:extLst>
          </p:cNvPr>
          <p:cNvGrpSpPr/>
          <p:nvPr/>
        </p:nvGrpSpPr>
        <p:grpSpPr>
          <a:xfrm>
            <a:off x="0" y="4148464"/>
            <a:ext cx="7772400" cy="1761471"/>
            <a:chOff x="0" y="6968447"/>
            <a:chExt cx="7772400" cy="176147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7AF53CC-7A60-6B5D-3018-79C0BB8991E0}"/>
                </a:ext>
              </a:extLst>
            </p:cNvPr>
            <p:cNvSpPr txBox="1"/>
            <p:nvPr/>
          </p:nvSpPr>
          <p:spPr>
            <a:xfrm>
              <a:off x="0" y="7346479"/>
              <a:ext cx="308560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@Override</a:t>
              </a:r>
            </a:p>
            <a:p>
              <a:r>
                <a:rPr lang="en-US" sz="1200" dirty="0"/>
                <a:t>public String </a:t>
              </a:r>
              <a:r>
                <a:rPr lang="en-US" sz="1200" dirty="0" err="1"/>
                <a:t>toString</a:t>
              </a:r>
              <a:r>
                <a:rPr lang="en-US" sz="1200" dirty="0"/>
                <a:t>() {</a:t>
              </a:r>
            </a:p>
            <a:p>
              <a:r>
                <a:rPr lang="en-US" sz="1200" dirty="0"/>
                <a:t>  return x + " ";</a:t>
              </a:r>
            </a:p>
            <a:p>
              <a:r>
                <a:rPr lang="en-US" sz="1200" dirty="0"/>
                <a:t>}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041A186-C465-A6A1-BB25-44F50FD437D5}"/>
                </a:ext>
              </a:extLst>
            </p:cNvPr>
            <p:cNvSpPr txBox="1"/>
            <p:nvPr/>
          </p:nvSpPr>
          <p:spPr>
            <a:xfrm>
              <a:off x="0" y="6968447"/>
              <a:ext cx="7772400" cy="3693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sz="1200" b="1" u="sng" dirty="0"/>
                <a:t>Question 2 Answers</a:t>
              </a:r>
              <a:r>
                <a:rPr lang="en-US" sz="1200" dirty="0"/>
                <a:t>:</a:t>
              </a:r>
            </a:p>
            <a:p>
              <a:r>
                <a:rPr lang="en-US" sz="1200" dirty="0"/>
                <a:t>H2ClassB								H2ClassA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6AF077-C976-FF1A-3064-A72BE0003663}"/>
                </a:ext>
              </a:extLst>
            </p:cNvPr>
            <p:cNvSpPr txBox="1"/>
            <p:nvPr/>
          </p:nvSpPr>
          <p:spPr>
            <a:xfrm>
              <a:off x="4013337" y="7346479"/>
              <a:ext cx="3085600" cy="1383439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r>
                <a:rPr lang="en-US" sz="1200" dirty="0"/>
                <a:t>public String </a:t>
              </a:r>
              <a:r>
                <a:rPr lang="en-US" sz="1200" dirty="0" err="1"/>
                <a:t>toString</a:t>
              </a:r>
              <a:r>
                <a:rPr lang="en-US" sz="1200" dirty="0"/>
                <a:t>() {</a:t>
              </a:r>
            </a:p>
            <a:p>
              <a:r>
                <a:rPr lang="en-US" sz="1200" dirty="0"/>
                <a:t>  StringBuilder sb = new StringBuilder();</a:t>
              </a:r>
            </a:p>
            <a:p>
              <a:r>
                <a:rPr lang="en-US" sz="1200" dirty="0"/>
                <a:t>  for (H2ClassB b : list) {</a:t>
              </a:r>
            </a:p>
            <a:p>
              <a:r>
                <a:rPr lang="en-US" sz="1200" dirty="0"/>
                <a:t>    </a:t>
              </a:r>
              <a:r>
                <a:rPr lang="en-US" sz="1200" dirty="0" err="1"/>
                <a:t>sb.append</a:t>
              </a:r>
              <a:r>
                <a:rPr lang="en-US" sz="1200" dirty="0"/>
                <a:t>(b); // calls </a:t>
              </a:r>
              <a:r>
                <a:rPr lang="en-US" sz="1200" dirty="0" err="1"/>
                <a:t>b.toString</a:t>
              </a:r>
              <a:r>
                <a:rPr lang="en-US" sz="1200" dirty="0"/>
                <a:t>() naturally</a:t>
              </a:r>
            </a:p>
            <a:p>
              <a:r>
                <a:rPr lang="en-US" sz="1200" dirty="0"/>
                <a:t>  }</a:t>
              </a:r>
            </a:p>
            <a:p>
              <a:r>
                <a:rPr lang="en-US" sz="1200" dirty="0"/>
                <a:t>  return </a:t>
              </a:r>
              <a:r>
                <a:rPr lang="en-US" sz="1200" dirty="0" err="1"/>
                <a:t>sb.toString</a:t>
              </a:r>
              <a:r>
                <a:rPr lang="en-US" sz="1200" dirty="0"/>
                <a:t>();</a:t>
              </a:r>
            </a:p>
            <a:p>
              <a:r>
                <a:rPr lang="en-US" sz="1200" dirty="0"/>
                <a:t>}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83ACF76-7F93-B794-BFCA-BE46D75DC15B}"/>
              </a:ext>
            </a:extLst>
          </p:cNvPr>
          <p:cNvSpPr txBox="1"/>
          <p:nvPr/>
        </p:nvSpPr>
        <p:spPr>
          <a:xfrm>
            <a:off x="0" y="-5267"/>
            <a:ext cx="77724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u="sng" dirty="0"/>
              <a:t>Question 1 Answers:</a:t>
            </a:r>
          </a:p>
          <a:p>
            <a:r>
              <a:rPr lang="en-US" sz="1200" b="1" dirty="0"/>
              <a:t>Structure Diagrams</a:t>
            </a:r>
          </a:p>
          <a:p>
            <a:r>
              <a:rPr lang="en-US" sz="1200" u="sng" dirty="0"/>
              <a:t>Class Diagram </a:t>
            </a:r>
            <a:r>
              <a:rPr lang="en-US" sz="1200" dirty="0"/>
              <a:t>- Shows classes, their attributes/methods, and relationships</a:t>
            </a:r>
          </a:p>
          <a:p>
            <a:r>
              <a:rPr lang="en-US" sz="1200" u="sng" dirty="0"/>
              <a:t>Object Diagram </a:t>
            </a:r>
            <a:r>
              <a:rPr lang="en-US" sz="1200" dirty="0"/>
              <a:t>- A snapshot of objects and their links at a moment in time</a:t>
            </a:r>
          </a:p>
          <a:p>
            <a:r>
              <a:rPr lang="en-US" sz="1200" u="sng" dirty="0"/>
              <a:t>Component Diagram </a:t>
            </a:r>
            <a:r>
              <a:rPr lang="en-US" sz="1200" dirty="0"/>
              <a:t>- Shows software components (modules) and dependencies between them</a:t>
            </a:r>
          </a:p>
          <a:p>
            <a:r>
              <a:rPr lang="en-US" sz="1200" u="sng" dirty="0"/>
              <a:t>Deployment Diagram </a:t>
            </a:r>
            <a:r>
              <a:rPr lang="en-US" sz="1200" dirty="0"/>
              <a:t>- Shows hardware nodes/execution environments and where software artifacts are deployed.</a:t>
            </a:r>
          </a:p>
          <a:p>
            <a:r>
              <a:rPr lang="en-US" sz="1200" u="sng" dirty="0"/>
              <a:t>Package Diagram </a:t>
            </a:r>
            <a:r>
              <a:rPr lang="en-US" sz="1200" dirty="0"/>
              <a:t>- Shows packages and their dependencies.</a:t>
            </a:r>
          </a:p>
          <a:p>
            <a:r>
              <a:rPr lang="en-US" sz="1200" u="sng" dirty="0"/>
              <a:t>Composite Structure Diagram </a:t>
            </a:r>
            <a:r>
              <a:rPr lang="en-US" sz="1200" dirty="0"/>
              <a:t>- Shows internal structure of a class/component.</a:t>
            </a:r>
          </a:p>
          <a:p>
            <a:r>
              <a:rPr lang="en-US" sz="1200" u="sng" dirty="0"/>
              <a:t>Profile Diagram </a:t>
            </a:r>
            <a:r>
              <a:rPr lang="en-US" sz="1200" dirty="0"/>
              <a:t>- Extends UML with tagged values for a domain specific modeling profile.</a:t>
            </a:r>
          </a:p>
          <a:p>
            <a:endParaRPr lang="en-US" sz="1200" dirty="0"/>
          </a:p>
          <a:p>
            <a:r>
              <a:rPr lang="en-US" sz="1200" b="1" dirty="0"/>
              <a:t>Behavior Diagrams</a:t>
            </a:r>
          </a:p>
          <a:p>
            <a:r>
              <a:rPr lang="en-US" sz="1200" u="sng" dirty="0"/>
              <a:t>Use Case Diagram </a:t>
            </a:r>
            <a:r>
              <a:rPr lang="en-US" sz="1200" dirty="0"/>
              <a:t>- Shows actors and use cases.</a:t>
            </a:r>
          </a:p>
          <a:p>
            <a:r>
              <a:rPr lang="en-US" sz="1200" u="sng" dirty="0"/>
              <a:t>Activity Diagram </a:t>
            </a:r>
            <a:r>
              <a:rPr lang="en-US" sz="1200" dirty="0"/>
              <a:t>- Workflow of actions, decisions, concurrency.</a:t>
            </a:r>
          </a:p>
          <a:p>
            <a:r>
              <a:rPr lang="en-US" sz="1200" u="sng" dirty="0"/>
              <a:t>State Machine Diagram </a:t>
            </a:r>
            <a:r>
              <a:rPr lang="en-US" sz="1200" dirty="0"/>
              <a:t>- States of an object and transitions triggered by events.</a:t>
            </a:r>
          </a:p>
          <a:p>
            <a:r>
              <a:rPr lang="en-US" sz="1200" u="sng" dirty="0"/>
              <a:t>Sequence Diagram  </a:t>
            </a:r>
            <a:r>
              <a:rPr lang="en-US" sz="1200" dirty="0"/>
              <a:t>- Time-ordered messages between objects.</a:t>
            </a:r>
          </a:p>
          <a:p>
            <a:r>
              <a:rPr lang="en-US" sz="1200" u="sng" dirty="0"/>
              <a:t>Communication Diagram </a:t>
            </a:r>
            <a:r>
              <a:rPr lang="en-US" sz="1200" dirty="0"/>
              <a:t>- Focuses on object links and message.</a:t>
            </a:r>
          </a:p>
          <a:p>
            <a:r>
              <a:rPr lang="en-US" sz="1200" u="sng" dirty="0"/>
              <a:t>Interaction Overview Diagram </a:t>
            </a:r>
            <a:r>
              <a:rPr lang="en-US" sz="1200" dirty="0"/>
              <a:t>- High-level control flow that references other interactions.</a:t>
            </a:r>
          </a:p>
          <a:p>
            <a:r>
              <a:rPr lang="en-US" sz="1200" u="sng" dirty="0"/>
              <a:t>Timing Diagram</a:t>
            </a:r>
            <a:r>
              <a:rPr lang="en-US" sz="1200" dirty="0"/>
              <a:t> - How state/value changes over time with an explicit time axis.</a:t>
            </a:r>
          </a:p>
        </p:txBody>
      </p:sp>
    </p:spTree>
    <p:extLst>
      <p:ext uri="{BB962C8B-B14F-4D97-AF65-F5344CB8AC3E}">
        <p14:creationId xmlns:p14="http://schemas.microsoft.com/office/powerpoint/2010/main" val="2528835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EDA85-CEBA-E008-22A2-7CF9B9DB7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0AFA7EE-AC68-88A0-5E8D-5BAC9DB8B2B4}"/>
              </a:ext>
            </a:extLst>
          </p:cNvPr>
          <p:cNvGrpSpPr/>
          <p:nvPr/>
        </p:nvGrpSpPr>
        <p:grpSpPr>
          <a:xfrm>
            <a:off x="175480" y="101977"/>
            <a:ext cx="7539920" cy="3508061"/>
            <a:chOff x="0" y="5430384"/>
            <a:chExt cx="3560875" cy="307478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6A4AA7E-69CF-BE5C-C4AD-4EF7860861B5}"/>
                </a:ext>
              </a:extLst>
            </p:cNvPr>
            <p:cNvSpPr txBox="1"/>
            <p:nvPr/>
          </p:nvSpPr>
          <p:spPr>
            <a:xfrm>
              <a:off x="0" y="6012183"/>
              <a:ext cx="2147778" cy="2492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public class H2ClassE {</a:t>
              </a:r>
            </a:p>
            <a:p>
              <a:r>
                <a:rPr lang="en-US" sz="1200" dirty="0"/>
                <a:t>  int x, y, z;</a:t>
              </a:r>
            </a:p>
            <a:p>
              <a:endParaRPr lang="en-US" sz="1200" dirty="0"/>
            </a:p>
            <a:p>
              <a:r>
                <a:rPr lang="en-US" sz="1200" dirty="0"/>
                <a:t>  H2ClassE(int a) {</a:t>
              </a:r>
            </a:p>
            <a:p>
              <a:r>
                <a:rPr lang="en-US" sz="1200" dirty="0"/>
                <a:t>    this(5, 12); // must be first</a:t>
              </a:r>
            </a:p>
            <a:p>
              <a:r>
                <a:rPr lang="en-US" sz="1200" dirty="0"/>
                <a:t>    x = a;</a:t>
              </a:r>
            </a:p>
            <a:p>
              <a:r>
                <a:rPr lang="en-US" sz="1200" dirty="0"/>
                <a:t>  }</a:t>
              </a:r>
            </a:p>
            <a:p>
              <a:endParaRPr lang="en-US" sz="1200" dirty="0"/>
            </a:p>
            <a:p>
              <a:r>
                <a:rPr lang="en-US" sz="1200" dirty="0"/>
                <a:t>  H2ClassE(int b, int c) {</a:t>
              </a:r>
            </a:p>
            <a:p>
              <a:r>
                <a:rPr lang="en-US" sz="1200" dirty="0"/>
                <a:t>    y = b;</a:t>
              </a:r>
            </a:p>
            <a:p>
              <a:r>
                <a:rPr lang="en-US" sz="1200" dirty="0"/>
                <a:t>    z = c;</a:t>
              </a:r>
            </a:p>
            <a:p>
              <a:r>
                <a:rPr lang="en-US" sz="1200" dirty="0"/>
                <a:t>  }</a:t>
              </a:r>
            </a:p>
            <a:p>
              <a:r>
                <a:rPr lang="en-US" sz="1200" dirty="0"/>
                <a:t>}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9DBC7F4-3939-5F12-E49E-4CD7F3E51CC6}"/>
                </a:ext>
              </a:extLst>
            </p:cNvPr>
            <p:cNvSpPr txBox="1"/>
            <p:nvPr/>
          </p:nvSpPr>
          <p:spPr>
            <a:xfrm>
              <a:off x="0" y="5430384"/>
              <a:ext cx="3560875" cy="55399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sz="1200" b="1" u="sng" dirty="0"/>
                <a:t>Question 4 Answers</a:t>
              </a:r>
              <a:r>
                <a:rPr lang="en-US" sz="1200" dirty="0"/>
                <a:t>:</a:t>
              </a:r>
            </a:p>
            <a:p>
              <a:r>
                <a:rPr lang="en-US" sz="1200" dirty="0"/>
                <a:t>In Java, a constructor call to must be the first statement in the constructor. The code assigns x = a</a:t>
              </a:r>
            </a:p>
            <a:p>
              <a:r>
                <a:rPr lang="en-US" sz="1200" dirty="0"/>
                <a:t>first, then calls this(5, 12). This is illegal.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9A6F114-BA72-5AD5-FD6A-D0DBBA22FA13}"/>
              </a:ext>
            </a:extLst>
          </p:cNvPr>
          <p:cNvGrpSpPr/>
          <p:nvPr/>
        </p:nvGrpSpPr>
        <p:grpSpPr>
          <a:xfrm>
            <a:off x="-1" y="3342541"/>
            <a:ext cx="7694907" cy="2009413"/>
            <a:chOff x="-37739" y="5430384"/>
            <a:chExt cx="3747387" cy="176123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CB2F505-DD4C-C0B5-12B0-398AA8E66D73}"/>
                </a:ext>
              </a:extLst>
            </p:cNvPr>
            <p:cNvSpPr txBox="1"/>
            <p:nvPr/>
          </p:nvSpPr>
          <p:spPr>
            <a:xfrm>
              <a:off x="-37739" y="5806624"/>
              <a:ext cx="3747387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To produce a decimal:</a:t>
              </a:r>
            </a:p>
            <a:p>
              <a:r>
                <a:rPr lang="en-US" sz="1200" dirty="0"/>
                <a:t>public static final double </a:t>
              </a:r>
              <a:r>
                <a:rPr lang="en-US" sz="1200" dirty="0" err="1"/>
                <a:t>myNumber</a:t>
              </a:r>
              <a:r>
                <a:rPr lang="en-US" sz="1200" dirty="0"/>
                <a:t> = 17.36</a:t>
              </a:r>
            </a:p>
            <a:p>
              <a:endParaRPr lang="en-US" sz="1200" dirty="0"/>
            </a:p>
            <a:p>
              <a:r>
                <a:rPr lang="en-US" sz="1200" dirty="0"/>
                <a:t>To produce an integer:</a:t>
              </a:r>
            </a:p>
            <a:p>
              <a:r>
                <a:rPr lang="en-US" sz="1200" dirty="0"/>
                <a:t>public static final int </a:t>
              </a:r>
              <a:r>
                <a:rPr lang="en-US" sz="1200" dirty="0" err="1"/>
                <a:t>myNumber</a:t>
              </a:r>
              <a:r>
                <a:rPr lang="en-US" sz="1200" dirty="0"/>
                <a:t> = 17;</a:t>
              </a:r>
            </a:p>
            <a:p>
              <a:r>
                <a:rPr lang="en-US" sz="1200" dirty="0"/>
                <a:t>OR</a:t>
              </a:r>
            </a:p>
            <a:p>
              <a:r>
                <a:rPr lang="en-US" sz="1200" dirty="0"/>
                <a:t>public static final int </a:t>
              </a:r>
              <a:r>
                <a:rPr lang="en-US" sz="1200" dirty="0" err="1"/>
                <a:t>myNumber</a:t>
              </a:r>
              <a:r>
                <a:rPr lang="en-US" sz="1200" dirty="0"/>
                <a:t> = (int) 17.36;        // truncates to 17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494CEE4-E349-BD8A-2B96-5C4579AE8209}"/>
                </a:ext>
              </a:extLst>
            </p:cNvPr>
            <p:cNvSpPr txBox="1"/>
            <p:nvPr/>
          </p:nvSpPr>
          <p:spPr>
            <a:xfrm>
              <a:off x="0" y="5430384"/>
              <a:ext cx="3671909" cy="3693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sz="1200" b="1" u="sng" dirty="0"/>
                <a:t>Question 5 Answers</a:t>
              </a:r>
              <a:r>
                <a:rPr lang="en-US" sz="1200" dirty="0"/>
                <a:t>:</a:t>
              </a:r>
            </a:p>
            <a:p>
              <a:r>
                <a:rPr lang="en-US" sz="1200" dirty="0"/>
                <a:t>17.36 is a double. You can’t assign a </a:t>
              </a:r>
              <a:r>
                <a:rPr lang="en-US" sz="1200" i="1" dirty="0"/>
                <a:t>double</a:t>
              </a:r>
              <a:r>
                <a:rPr lang="en-US" sz="1200" dirty="0"/>
                <a:t> to </a:t>
              </a:r>
              <a:r>
                <a:rPr lang="en-US" sz="1200" i="1" dirty="0"/>
                <a:t>int</a:t>
              </a:r>
              <a:r>
                <a:rPr lang="en-US" sz="1200" dirty="0"/>
                <a:t> without conversion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FC00E87-4621-8615-7025-80032B51F6C6}"/>
              </a:ext>
            </a:extLst>
          </p:cNvPr>
          <p:cNvGrpSpPr/>
          <p:nvPr/>
        </p:nvGrpSpPr>
        <p:grpSpPr>
          <a:xfrm>
            <a:off x="0" y="5272749"/>
            <a:ext cx="7694907" cy="2097944"/>
            <a:chOff x="-37739" y="5430384"/>
            <a:chExt cx="3747387" cy="183883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0EB3027-6653-C24F-D418-94BA90840ED1}"/>
                </a:ext>
              </a:extLst>
            </p:cNvPr>
            <p:cNvSpPr txBox="1"/>
            <p:nvPr/>
          </p:nvSpPr>
          <p:spPr>
            <a:xfrm>
              <a:off x="-37739" y="6068887"/>
              <a:ext cx="3747387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public class H2ClassG {</a:t>
              </a:r>
            </a:p>
            <a:p>
              <a:r>
                <a:rPr lang="en-US" sz="1200" dirty="0"/>
                <a:t>  final int x;</a:t>
              </a:r>
            </a:p>
            <a:p>
              <a:endParaRPr lang="en-US" sz="1200" dirty="0"/>
            </a:p>
            <a:p>
              <a:r>
                <a:rPr lang="en-US" sz="1200" dirty="0"/>
                <a:t>  H2ClassG() { x = 0; }</a:t>
              </a:r>
            </a:p>
            <a:p>
              <a:r>
                <a:rPr lang="en-US" sz="1200" dirty="0"/>
                <a:t>  H2ClassG(int a) { x = a; }</a:t>
              </a:r>
            </a:p>
            <a:p>
              <a:r>
                <a:rPr lang="en-US" sz="1200" dirty="0"/>
                <a:t>}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85D8C69-9214-D8E8-DBA5-C49FE1D7AFCC}"/>
                </a:ext>
              </a:extLst>
            </p:cNvPr>
            <p:cNvSpPr txBox="1"/>
            <p:nvPr/>
          </p:nvSpPr>
          <p:spPr>
            <a:xfrm>
              <a:off x="0" y="5430384"/>
              <a:ext cx="3671909" cy="3693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sz="1200" b="1" u="sng" dirty="0"/>
                <a:t>Question 6 Answers</a:t>
              </a:r>
              <a:r>
                <a:rPr lang="en-US" sz="1200" dirty="0"/>
                <a:t>:</a:t>
              </a:r>
            </a:p>
            <a:p>
              <a:r>
                <a:rPr lang="en-US" sz="1200" i="1" dirty="0"/>
                <a:t>final int x</a:t>
              </a:r>
              <a:r>
                <a:rPr lang="en-US" sz="1200" dirty="0"/>
                <a:t> must be assigned once in every constructor. The no-</a:t>
              </a:r>
              <a:r>
                <a:rPr lang="en-US" sz="1200" dirty="0" err="1"/>
                <a:t>arg</a:t>
              </a:r>
              <a:r>
                <a:rPr lang="en-US" sz="1200" dirty="0"/>
                <a:t> constructor doesn’t assign x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681954A-E2A4-735D-2D52-C81E08792316}"/>
              </a:ext>
            </a:extLst>
          </p:cNvPr>
          <p:cNvGrpSpPr/>
          <p:nvPr/>
        </p:nvGrpSpPr>
        <p:grpSpPr>
          <a:xfrm>
            <a:off x="-34441" y="7176410"/>
            <a:ext cx="7724423" cy="2881990"/>
            <a:chOff x="-82874" y="5430384"/>
            <a:chExt cx="3643749" cy="225466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0197B76-F3DC-4E4F-6BC7-3E42585549F9}"/>
                </a:ext>
              </a:extLst>
            </p:cNvPr>
            <p:cNvSpPr txBox="1"/>
            <p:nvPr/>
          </p:nvSpPr>
          <p:spPr>
            <a:xfrm>
              <a:off x="-82874" y="5793926"/>
              <a:ext cx="2147778" cy="189111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r>
                <a:rPr lang="en-US" sz="1200" dirty="0"/>
                <a:t>public class H2ClassH {</a:t>
              </a:r>
            </a:p>
            <a:p>
              <a:r>
                <a:rPr lang="en-US" sz="1200" dirty="0"/>
                <a:t>  final int x;</a:t>
              </a:r>
            </a:p>
            <a:p>
              <a:endParaRPr lang="en-US" sz="1200" dirty="0"/>
            </a:p>
            <a:p>
              <a:r>
                <a:rPr lang="en-US" sz="1200" dirty="0"/>
                <a:t>  public H2ClassH(int x) {   // constructor (no return type)</a:t>
              </a:r>
            </a:p>
            <a:p>
              <a:r>
                <a:rPr lang="en-US" sz="1200" dirty="0"/>
                <a:t>    </a:t>
              </a:r>
              <a:r>
                <a:rPr lang="en-US" sz="1200" dirty="0" err="1"/>
                <a:t>this.x</a:t>
              </a:r>
              <a:r>
                <a:rPr lang="en-US" sz="1200" dirty="0"/>
                <a:t> = x;</a:t>
              </a:r>
            </a:p>
            <a:p>
              <a:r>
                <a:rPr lang="en-US" sz="1200" dirty="0"/>
                <a:t>  }</a:t>
              </a:r>
            </a:p>
            <a:p>
              <a:endParaRPr lang="en-US" sz="1200" dirty="0"/>
            </a:p>
            <a:p>
              <a:r>
                <a:rPr lang="en-US" sz="1200" dirty="0"/>
                <a:t>  public int evaluate() {    // regular method</a:t>
              </a:r>
            </a:p>
            <a:p>
              <a:r>
                <a:rPr lang="en-US" sz="1200" dirty="0"/>
                <a:t>    if (x == 7) return 1;</a:t>
              </a:r>
            </a:p>
            <a:p>
              <a:r>
                <a:rPr lang="en-US" sz="1200" dirty="0"/>
                <a:t>    return 2;</a:t>
              </a:r>
            </a:p>
            <a:p>
              <a:r>
                <a:rPr lang="en-US" sz="1200" dirty="0"/>
                <a:t>  }</a:t>
              </a:r>
            </a:p>
            <a:p>
              <a:r>
                <a:rPr lang="en-US" sz="1200" dirty="0"/>
                <a:t>}</a:t>
              </a:r>
            </a:p>
            <a:p>
              <a:endParaRPr lang="en-US" sz="1200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A9E7135-46BB-4D42-7CF0-235979AE3D8D}"/>
                </a:ext>
              </a:extLst>
            </p:cNvPr>
            <p:cNvSpPr txBox="1"/>
            <p:nvPr/>
          </p:nvSpPr>
          <p:spPr>
            <a:xfrm>
              <a:off x="0" y="5430384"/>
              <a:ext cx="3560875" cy="3693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sz="1200" b="1" u="sng" dirty="0"/>
                <a:t>Question 7 Answers</a:t>
              </a:r>
              <a:r>
                <a:rPr lang="en-US" sz="1200" dirty="0"/>
                <a:t>:</a:t>
              </a:r>
            </a:p>
            <a:p>
              <a:r>
                <a:rPr lang="en-US" sz="1200" i="1" dirty="0"/>
                <a:t>int H2ClassH() </a:t>
              </a:r>
              <a:r>
                <a:rPr lang="en-US" sz="1200" dirty="0"/>
                <a:t>is not a constructor, it’s a method. </a:t>
              </a:r>
              <a:r>
                <a:rPr lang="en-US" sz="1200" i="1" dirty="0"/>
                <a:t>final int x </a:t>
              </a:r>
              <a:r>
                <a:rPr lang="en-US" sz="1200" dirty="0"/>
                <a:t>is never initialized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4875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D227D-41CA-4BF1-DC15-7A352B408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A84D874A-8A7B-A196-D78D-C800FE0143F9}"/>
              </a:ext>
            </a:extLst>
          </p:cNvPr>
          <p:cNvGrpSpPr/>
          <p:nvPr/>
        </p:nvGrpSpPr>
        <p:grpSpPr>
          <a:xfrm>
            <a:off x="0" y="60346"/>
            <a:ext cx="7724421" cy="2769377"/>
            <a:chOff x="27462" y="3781954"/>
            <a:chExt cx="7724421" cy="276937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90E1BC9-3E86-D488-076B-85FC7445D6C5}"/>
                </a:ext>
              </a:extLst>
            </p:cNvPr>
            <p:cNvSpPr txBox="1"/>
            <p:nvPr/>
          </p:nvSpPr>
          <p:spPr>
            <a:xfrm>
              <a:off x="27462" y="4544934"/>
              <a:ext cx="3085600" cy="20063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public class H2ClassI {</a:t>
              </a:r>
            </a:p>
            <a:p>
              <a:r>
                <a:rPr lang="en-US" sz="1200" dirty="0"/>
                <a:t>  final int x = 24;</a:t>
              </a:r>
            </a:p>
            <a:p>
              <a:endParaRPr lang="en-US" sz="1200" dirty="0"/>
            </a:p>
            <a:p>
              <a:r>
                <a:rPr lang="en-US" sz="1200" dirty="0"/>
                <a:t>  public static void main(String[] </a:t>
              </a:r>
              <a:r>
                <a:rPr lang="en-US" sz="1200" dirty="0" err="1"/>
                <a:t>args</a:t>
              </a:r>
              <a:r>
                <a:rPr lang="en-US" sz="1200" dirty="0"/>
                <a:t>) {</a:t>
              </a:r>
            </a:p>
            <a:p>
              <a:r>
                <a:rPr lang="en-US" sz="1200" dirty="0"/>
                <a:t>    H2ClassI h = new H2ClassI();</a:t>
              </a:r>
            </a:p>
            <a:p>
              <a:r>
                <a:rPr lang="en-US" sz="1200" dirty="0"/>
                <a:t>    // </a:t>
              </a:r>
              <a:r>
                <a:rPr lang="en-US" sz="1200" dirty="0" err="1"/>
                <a:t>h.x</a:t>
              </a:r>
              <a:r>
                <a:rPr lang="en-US" sz="1200" dirty="0"/>
                <a:t> already 24</a:t>
              </a:r>
            </a:p>
            <a:p>
              <a:r>
                <a:rPr lang="en-US" sz="1200" dirty="0"/>
                <a:t>  }</a:t>
              </a:r>
            </a:p>
            <a:p>
              <a:r>
                <a:rPr lang="en-US" sz="1200" dirty="0"/>
                <a:t>}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0224300-1D13-4B2C-2738-A07663A113A2}"/>
                </a:ext>
              </a:extLst>
            </p:cNvPr>
            <p:cNvSpPr txBox="1"/>
            <p:nvPr/>
          </p:nvSpPr>
          <p:spPr>
            <a:xfrm>
              <a:off x="203145" y="3781954"/>
              <a:ext cx="7548738" cy="9441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sz="1200" b="1" u="sng" dirty="0"/>
                <a:t>Question 8 Answers</a:t>
              </a:r>
              <a:r>
                <a:rPr lang="en-US" sz="1200" dirty="0"/>
                <a:t>:</a:t>
              </a:r>
            </a:p>
            <a:p>
              <a:r>
                <a:rPr lang="en-US" sz="1200" i="1" dirty="0"/>
                <a:t>x</a:t>
              </a:r>
              <a:r>
                <a:rPr lang="en-US" sz="1200" dirty="0"/>
                <a:t> is final, so </a:t>
              </a:r>
              <a:r>
                <a:rPr lang="en-US" sz="1200" i="1" dirty="0" err="1"/>
                <a:t>h.x</a:t>
              </a:r>
              <a:r>
                <a:rPr lang="en-US" sz="1200" i="1" dirty="0"/>
                <a:t> = 24 </a:t>
              </a:r>
              <a:r>
                <a:rPr lang="en-US" sz="1200" dirty="0"/>
                <a:t>is illegal after construction. </a:t>
              </a:r>
              <a:r>
                <a:rPr lang="en-US" sz="1200" i="1" dirty="0"/>
                <a:t>final int x </a:t>
              </a:r>
              <a:r>
                <a:rPr lang="en-US" sz="1200" dirty="0"/>
                <a:t>must be initialized.</a:t>
              </a:r>
            </a:p>
            <a:p>
              <a:endParaRPr lang="en-US" sz="1200" dirty="0"/>
            </a:p>
            <a:p>
              <a:r>
                <a:rPr lang="en-US" sz="1200" dirty="0"/>
                <a:t>Solution 1: Initialize at declaration				Solution 2: Initialize in a constructor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ECB932B-8058-FB6A-009E-6ACD94CF0F6E}"/>
                </a:ext>
              </a:extLst>
            </p:cNvPr>
            <p:cNvSpPr txBox="1"/>
            <p:nvPr/>
          </p:nvSpPr>
          <p:spPr>
            <a:xfrm>
              <a:off x="4087691" y="4544933"/>
              <a:ext cx="3085600" cy="1764427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r>
                <a:rPr lang="en-US" sz="1200" dirty="0"/>
                <a:t>public class H2ClassI {</a:t>
              </a:r>
            </a:p>
            <a:p>
              <a:r>
                <a:rPr lang="en-US" sz="1200" dirty="0"/>
                <a:t>  final int x;</a:t>
              </a:r>
            </a:p>
            <a:p>
              <a:endParaRPr lang="en-US" sz="1200" dirty="0"/>
            </a:p>
            <a:p>
              <a:r>
                <a:rPr lang="en-US" sz="1200" dirty="0"/>
                <a:t>  H2ClassI() { x = 24; }</a:t>
              </a:r>
            </a:p>
            <a:p>
              <a:endParaRPr lang="en-US" sz="1200" dirty="0"/>
            </a:p>
            <a:p>
              <a:r>
                <a:rPr lang="en-US" sz="1200" dirty="0"/>
                <a:t>  public static void main(String[] </a:t>
              </a:r>
              <a:r>
                <a:rPr lang="en-US" sz="1200" dirty="0" err="1"/>
                <a:t>args</a:t>
              </a:r>
              <a:r>
                <a:rPr lang="en-US" sz="1200" dirty="0"/>
                <a:t>) {</a:t>
              </a:r>
            </a:p>
            <a:p>
              <a:r>
                <a:rPr lang="en-US" sz="1200" dirty="0"/>
                <a:t>    H2ClassI h = new H2ClassI();</a:t>
              </a:r>
            </a:p>
            <a:p>
              <a:r>
                <a:rPr lang="en-US" sz="1200" dirty="0"/>
                <a:t>  }</a:t>
              </a:r>
            </a:p>
            <a:p>
              <a:r>
                <a:rPr lang="en-US" sz="1200" dirty="0"/>
                <a:t>}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9758A14-1365-DADC-F323-EA656DE08422}"/>
              </a:ext>
            </a:extLst>
          </p:cNvPr>
          <p:cNvGrpSpPr/>
          <p:nvPr/>
        </p:nvGrpSpPr>
        <p:grpSpPr>
          <a:xfrm>
            <a:off x="-27462" y="2770188"/>
            <a:ext cx="7724421" cy="2835084"/>
            <a:chOff x="0" y="7223316"/>
            <a:chExt cx="7724421" cy="283508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CBB9A8C-BECD-6B1D-A99D-D301ACE59C01}"/>
                </a:ext>
              </a:extLst>
            </p:cNvPr>
            <p:cNvGrpSpPr/>
            <p:nvPr/>
          </p:nvGrpSpPr>
          <p:grpSpPr>
            <a:xfrm>
              <a:off x="0" y="7223316"/>
              <a:ext cx="7724421" cy="2835084"/>
              <a:chOff x="-82873" y="5430384"/>
              <a:chExt cx="3643748" cy="2217964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220AFE-6657-6867-9872-18844517A9C3}"/>
                  </a:ext>
                </a:extLst>
              </p:cNvPr>
              <p:cNvSpPr txBox="1"/>
              <p:nvPr/>
            </p:nvSpPr>
            <p:spPr>
              <a:xfrm>
                <a:off x="-82873" y="6263353"/>
                <a:ext cx="1787197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 err="1"/>
                  <a:t>addMouseListener</a:t>
                </a:r>
                <a:r>
                  <a:rPr lang="en-US" sz="1200" dirty="0"/>
                  <a:t>(new </a:t>
                </a:r>
                <a:r>
                  <a:rPr lang="en-US" sz="1200" dirty="0" err="1"/>
                  <a:t>MouseListener</a:t>
                </a:r>
                <a:r>
                  <a:rPr lang="en-US" sz="1200" dirty="0"/>
                  <a:t>() {</a:t>
                </a:r>
              </a:p>
              <a:p>
                <a:r>
                  <a:rPr lang="en-US" sz="1200" dirty="0"/>
                  <a:t>  public void </a:t>
                </a:r>
                <a:r>
                  <a:rPr lang="en-US" sz="1200" dirty="0" err="1"/>
                  <a:t>mouseClicked</a:t>
                </a:r>
                <a:r>
                  <a:rPr lang="en-US" sz="1200" dirty="0"/>
                  <a:t>(</a:t>
                </a:r>
                <a:r>
                  <a:rPr lang="en-US" sz="1200" dirty="0" err="1"/>
                  <a:t>MouseEvent</a:t>
                </a:r>
                <a:r>
                  <a:rPr lang="en-US" sz="1200" dirty="0"/>
                  <a:t> e) {}</a:t>
                </a:r>
              </a:p>
              <a:p>
                <a:r>
                  <a:rPr lang="en-US" sz="1200" dirty="0"/>
                  <a:t>  public void </a:t>
                </a:r>
                <a:r>
                  <a:rPr lang="en-US" sz="1200" dirty="0" err="1"/>
                  <a:t>mousePressed</a:t>
                </a:r>
                <a:r>
                  <a:rPr lang="en-US" sz="1200" dirty="0"/>
                  <a:t>(</a:t>
                </a:r>
                <a:r>
                  <a:rPr lang="en-US" sz="1200" dirty="0" err="1"/>
                  <a:t>MouseEvent</a:t>
                </a:r>
                <a:r>
                  <a:rPr lang="en-US" sz="1200" dirty="0"/>
                  <a:t> e) {}</a:t>
                </a:r>
              </a:p>
              <a:p>
                <a:r>
                  <a:rPr lang="en-US" sz="1200" dirty="0"/>
                  <a:t>  public void </a:t>
                </a:r>
                <a:r>
                  <a:rPr lang="en-US" sz="1200" dirty="0" err="1"/>
                  <a:t>mouseReleased</a:t>
                </a:r>
                <a:r>
                  <a:rPr lang="en-US" sz="1200" dirty="0"/>
                  <a:t>(</a:t>
                </a:r>
                <a:r>
                  <a:rPr lang="en-US" sz="1200" dirty="0" err="1"/>
                  <a:t>MouseEvent</a:t>
                </a:r>
                <a:r>
                  <a:rPr lang="en-US" sz="1200" dirty="0"/>
                  <a:t> e) {}</a:t>
                </a:r>
              </a:p>
              <a:p>
                <a:r>
                  <a:rPr lang="en-US" sz="1200" dirty="0"/>
                  <a:t>  public void </a:t>
                </a:r>
                <a:r>
                  <a:rPr lang="en-US" sz="1200" dirty="0" err="1"/>
                  <a:t>mouseEntered</a:t>
                </a:r>
                <a:r>
                  <a:rPr lang="en-US" sz="1200" dirty="0"/>
                  <a:t>(</a:t>
                </a:r>
                <a:r>
                  <a:rPr lang="en-US" sz="1200" dirty="0" err="1"/>
                  <a:t>MouseEvent</a:t>
                </a:r>
                <a:r>
                  <a:rPr lang="en-US" sz="1200" dirty="0"/>
                  <a:t> e) {}</a:t>
                </a:r>
              </a:p>
              <a:p>
                <a:r>
                  <a:rPr lang="en-US" sz="1200" dirty="0"/>
                  <a:t>  public void </a:t>
                </a:r>
                <a:r>
                  <a:rPr lang="en-US" sz="1200" dirty="0" err="1"/>
                  <a:t>mouseExited</a:t>
                </a:r>
                <a:r>
                  <a:rPr lang="en-US" sz="1200" dirty="0"/>
                  <a:t>(</a:t>
                </a:r>
                <a:r>
                  <a:rPr lang="en-US" sz="1200" dirty="0" err="1"/>
                  <a:t>MouseEvent</a:t>
                </a:r>
                <a:r>
                  <a:rPr lang="en-US" sz="1200" dirty="0"/>
                  <a:t> e) {}</a:t>
                </a:r>
              </a:p>
              <a:p>
                <a:r>
                  <a:rPr lang="en-US" sz="1200" dirty="0"/>
                  <a:t>});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D02F790-C254-3A37-3E7D-AB78F12988FA}"/>
                  </a:ext>
                </a:extLst>
              </p:cNvPr>
              <p:cNvSpPr txBox="1"/>
              <p:nvPr/>
            </p:nvSpPr>
            <p:spPr>
              <a:xfrm>
                <a:off x="0" y="5430384"/>
                <a:ext cx="3560875" cy="738664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sz="1200" b="1" u="sng" dirty="0"/>
                  <a:t>Question 9 Answers</a:t>
                </a:r>
                <a:r>
                  <a:rPr lang="en-US" sz="1200" dirty="0"/>
                  <a:t>:</a:t>
                </a:r>
              </a:p>
              <a:p>
                <a:r>
                  <a:rPr lang="en-US" sz="1200" i="1" dirty="0" err="1"/>
                  <a:t>MouseListener</a:t>
                </a:r>
                <a:r>
                  <a:rPr lang="en-US" sz="1200" dirty="0"/>
                  <a:t> is an interface with 5 methods. Your anonymous class only implements </a:t>
                </a:r>
                <a:r>
                  <a:rPr lang="en-US" sz="1200" i="1" dirty="0" err="1"/>
                  <a:t>mouseClicked</a:t>
                </a:r>
                <a:r>
                  <a:rPr lang="en-US" sz="1200" dirty="0"/>
                  <a:t>.</a:t>
                </a:r>
              </a:p>
              <a:p>
                <a:endParaRPr lang="en-US" sz="1200" dirty="0"/>
              </a:p>
              <a:p>
                <a:r>
                  <a:rPr lang="en-US" sz="1200" dirty="0"/>
                  <a:t>Solution 1: Implement all required methods		Solution 2: Use </a:t>
                </a:r>
                <a:r>
                  <a:rPr lang="en-US" sz="1200" dirty="0" err="1"/>
                  <a:t>MouseAdapter</a:t>
                </a:r>
                <a:endParaRPr lang="en-US" sz="1200" dirty="0"/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1A30219-D036-79A7-4541-7B370C5A4748}"/>
                </a:ext>
              </a:extLst>
            </p:cNvPr>
            <p:cNvSpPr txBox="1"/>
            <p:nvPr/>
          </p:nvSpPr>
          <p:spPr>
            <a:xfrm>
              <a:off x="4087690" y="8288048"/>
              <a:ext cx="3636730" cy="10622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 err="1"/>
                <a:t>addMouseListener</a:t>
              </a:r>
              <a:r>
                <a:rPr lang="en-US" sz="1200" dirty="0"/>
                <a:t>(new </a:t>
              </a:r>
              <a:r>
                <a:rPr lang="en-US" sz="1200" dirty="0" err="1"/>
                <a:t>MouseAdapter</a:t>
              </a:r>
              <a:r>
                <a:rPr lang="en-US" sz="1200" dirty="0"/>
                <a:t>() {</a:t>
              </a:r>
            </a:p>
            <a:p>
              <a:endParaRPr lang="en-US" sz="1200" dirty="0"/>
            </a:p>
            <a:p>
              <a:r>
                <a:rPr lang="en-US" sz="1200" dirty="0"/>
                <a:t>public void </a:t>
              </a:r>
              <a:r>
                <a:rPr lang="en-US" sz="1200" dirty="0" err="1"/>
                <a:t>mouseClicked</a:t>
              </a:r>
              <a:r>
                <a:rPr lang="en-US" sz="1200" dirty="0"/>
                <a:t>(</a:t>
              </a:r>
              <a:r>
                <a:rPr lang="en-US" sz="1200" dirty="0" err="1"/>
                <a:t>MouseEvent</a:t>
              </a:r>
              <a:r>
                <a:rPr lang="en-US" sz="1200" dirty="0"/>
                <a:t> e) {}</a:t>
              </a:r>
            </a:p>
            <a:p>
              <a:r>
                <a:rPr lang="en-US" sz="1200" dirty="0"/>
                <a:t>});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DB72294-A508-C2FB-8486-9C58293DEE9C}"/>
              </a:ext>
            </a:extLst>
          </p:cNvPr>
          <p:cNvGrpSpPr/>
          <p:nvPr/>
        </p:nvGrpSpPr>
        <p:grpSpPr>
          <a:xfrm>
            <a:off x="-27462" y="5480037"/>
            <a:ext cx="7650909" cy="3445072"/>
            <a:chOff x="-48196" y="5430384"/>
            <a:chExt cx="3609071" cy="269517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0AC50FE-1A5E-BB0E-DBB7-552CFD0BC837}"/>
                </a:ext>
              </a:extLst>
            </p:cNvPr>
            <p:cNvSpPr txBox="1"/>
            <p:nvPr/>
          </p:nvSpPr>
          <p:spPr>
            <a:xfrm>
              <a:off x="-48196" y="6234438"/>
              <a:ext cx="2147778" cy="189111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r>
                <a:rPr lang="en-US" sz="1200" dirty="0"/>
                <a:t>import </a:t>
              </a:r>
              <a:r>
                <a:rPr lang="en-US" sz="1200" dirty="0" err="1"/>
                <a:t>javafx.event.ActionEvent</a:t>
              </a:r>
              <a:r>
                <a:rPr lang="en-US" sz="1200" dirty="0"/>
                <a:t>;</a:t>
              </a:r>
            </a:p>
            <a:p>
              <a:r>
                <a:rPr lang="en-US" sz="1200" dirty="0"/>
                <a:t>import </a:t>
              </a:r>
              <a:r>
                <a:rPr lang="en-US" sz="1200" dirty="0" err="1"/>
                <a:t>javafx.scene.control.Button</a:t>
              </a:r>
              <a:r>
                <a:rPr lang="en-US" sz="1200" dirty="0"/>
                <a:t>;</a:t>
              </a:r>
            </a:p>
            <a:p>
              <a:r>
                <a:rPr lang="en-US" sz="1200" dirty="0"/>
                <a:t>import </a:t>
              </a:r>
              <a:r>
                <a:rPr lang="en-US" sz="1200" dirty="0" err="1"/>
                <a:t>javafx.scene.control.Label</a:t>
              </a:r>
              <a:r>
                <a:rPr lang="en-US" sz="1200" dirty="0"/>
                <a:t>;</a:t>
              </a:r>
            </a:p>
            <a:p>
              <a:endParaRPr lang="en-US" sz="1200" dirty="0"/>
            </a:p>
            <a:p>
              <a:r>
                <a:rPr lang="en-US" sz="1200" dirty="0"/>
                <a:t>Button submit = new Button("Submit");</a:t>
              </a:r>
            </a:p>
            <a:p>
              <a:r>
                <a:rPr lang="en-US" sz="1200" dirty="0"/>
                <a:t>Label </a:t>
              </a:r>
              <a:r>
                <a:rPr lang="en-US" sz="1200" dirty="0" err="1"/>
                <a:t>label</a:t>
              </a:r>
              <a:r>
                <a:rPr lang="en-US" sz="1200" dirty="0"/>
                <a:t> = new Label();</a:t>
              </a:r>
            </a:p>
            <a:p>
              <a:endParaRPr lang="en-US" sz="1200" dirty="0"/>
            </a:p>
            <a:p>
              <a:r>
                <a:rPr lang="en-US" sz="1200" dirty="0" err="1"/>
                <a:t>submit.setOnAction</a:t>
              </a:r>
              <a:r>
                <a:rPr lang="en-US" sz="1200" dirty="0"/>
                <a:t>((</a:t>
              </a:r>
              <a:r>
                <a:rPr lang="en-US" sz="1200" dirty="0" err="1"/>
                <a:t>ActionEvent</a:t>
              </a:r>
              <a:r>
                <a:rPr lang="en-US" sz="1200" dirty="0"/>
                <a:t> e) -&gt; {</a:t>
              </a:r>
            </a:p>
            <a:p>
              <a:r>
                <a:rPr lang="en-US" sz="1200" dirty="0"/>
                <a:t>  </a:t>
              </a:r>
              <a:r>
                <a:rPr lang="en-US" sz="1200" dirty="0" err="1"/>
                <a:t>label.setText</a:t>
              </a:r>
              <a:r>
                <a:rPr lang="en-US" sz="1200" dirty="0"/>
                <a:t>("A comment");</a:t>
              </a:r>
            </a:p>
            <a:p>
              <a:r>
                <a:rPr lang="en-US" sz="1200" dirty="0"/>
                <a:t>});</a:t>
              </a:r>
            </a:p>
            <a:p>
              <a:endParaRPr lang="en-US" sz="12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C1912E5-F8F9-8F2D-86A3-6BCDD95D5B29}"/>
                </a:ext>
              </a:extLst>
            </p:cNvPr>
            <p:cNvSpPr txBox="1"/>
            <p:nvPr/>
          </p:nvSpPr>
          <p:spPr>
            <a:xfrm>
              <a:off x="0" y="5430384"/>
              <a:ext cx="3560875" cy="72234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sz="1200" b="1" u="sng" dirty="0"/>
                <a:t>Question 10 Answers</a:t>
              </a:r>
              <a:r>
                <a:rPr lang="en-US" sz="1200" dirty="0"/>
                <a:t>:</a:t>
              </a:r>
            </a:p>
            <a:p>
              <a:r>
                <a:rPr lang="en-US" sz="1200" i="1" dirty="0"/>
                <a:t>import javax.javafx.*</a:t>
              </a:r>
              <a:r>
                <a:rPr lang="en-US" sz="1200" dirty="0"/>
                <a:t> is wrong. JavaFX packages are </a:t>
              </a:r>
              <a:r>
                <a:rPr lang="en-US" sz="1200" i="1" dirty="0" err="1"/>
                <a:t>javafx</a:t>
              </a:r>
              <a:r>
                <a:rPr lang="en-US" sz="1200" i="1" dirty="0"/>
                <a:t>.*</a:t>
              </a:r>
              <a:r>
                <a:rPr lang="en-US" sz="1200" dirty="0"/>
                <a:t>, not </a:t>
              </a:r>
              <a:r>
                <a:rPr lang="en-US" sz="1200" i="1" dirty="0" err="1"/>
                <a:t>javax.javafx</a:t>
              </a:r>
              <a:r>
                <a:rPr lang="en-US" sz="1200" i="1" dirty="0"/>
                <a:t>.*</a:t>
              </a:r>
              <a:r>
                <a:rPr lang="en-US" sz="1200" dirty="0"/>
                <a:t>.</a:t>
              </a:r>
            </a:p>
            <a:p>
              <a:r>
                <a:rPr lang="en-US" sz="1200" i="1" dirty="0"/>
                <a:t>submit</a:t>
              </a:r>
              <a:r>
                <a:rPr lang="en-US" sz="1200" dirty="0"/>
                <a:t> and </a:t>
              </a:r>
              <a:r>
                <a:rPr lang="en-US" sz="1200" i="1" dirty="0"/>
                <a:t>label</a:t>
              </a:r>
              <a:r>
                <a:rPr lang="en-US" sz="1200" dirty="0"/>
                <a:t> aren’t declared. They should be UI controls like </a:t>
              </a:r>
              <a:r>
                <a:rPr lang="en-US" sz="1200" i="1" dirty="0"/>
                <a:t>Button submit and</a:t>
              </a:r>
              <a:r>
                <a:rPr lang="en-US" sz="1200" dirty="0"/>
                <a:t> </a:t>
              </a:r>
              <a:r>
                <a:rPr lang="en-US" sz="1200" i="1" dirty="0"/>
                <a:t>Label </a:t>
              </a:r>
              <a:r>
                <a:rPr lang="en-US" sz="1200" i="1" dirty="0" err="1"/>
                <a:t>label</a:t>
              </a:r>
              <a:r>
                <a:rPr lang="en-US" sz="1200" dirty="0"/>
                <a:t>.</a:t>
              </a:r>
            </a:p>
            <a:p>
              <a:r>
                <a:rPr lang="en-US" sz="1200" dirty="0"/>
                <a:t>The snippet isn’t inside a JavaFX </a:t>
              </a:r>
              <a:r>
                <a:rPr lang="en-US" sz="1200" i="1" dirty="0"/>
                <a:t>Application</a:t>
              </a:r>
              <a:r>
                <a:rPr lang="en-US" sz="1200" dirty="0"/>
                <a:t> lifecycle. You typically need correct imports for </a:t>
              </a:r>
              <a:r>
                <a:rPr lang="en-US" sz="1200" i="1" dirty="0" err="1"/>
                <a:t>ActionEvent</a:t>
              </a:r>
              <a:r>
                <a:rPr lang="en-US" sz="1200" dirty="0"/>
                <a:t>.</a:t>
              </a:r>
            </a:p>
            <a:p>
              <a:r>
                <a:rPr lang="en-US" sz="1200" dirty="0"/>
                <a:t>The string uses the wrong type of quote.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789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</TotalTime>
  <Words>998</Words>
  <Application>Microsoft Office PowerPoint</Application>
  <PresentationFormat>Custom</PresentationFormat>
  <Paragraphs>143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Merrill</dc:creator>
  <cp:lastModifiedBy>Joe Merrill</cp:lastModifiedBy>
  <cp:revision>1</cp:revision>
  <dcterms:created xsi:type="dcterms:W3CDTF">2026-01-24T14:25:50Z</dcterms:created>
  <dcterms:modified xsi:type="dcterms:W3CDTF">2026-01-24T14:51:13Z</dcterms:modified>
</cp:coreProperties>
</file>